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228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13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029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593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77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41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185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36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33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35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80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519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070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496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902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214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9579-B9E0-44DE-BE47-8FD9BD74C907}" type="datetimeFigureOut">
              <a:rPr lang="es-PE" smtClean="0"/>
              <a:t>15/04/2026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968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C59FA-3654-29F0-3906-7AA8DF0E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7751576" cy="2971801"/>
          </a:xfrm>
        </p:spPr>
        <p:txBody>
          <a:bodyPr>
            <a:normAutofit/>
          </a:bodyPr>
          <a:lstStyle/>
          <a:p>
            <a:r>
              <a:rPr lang="es-MX" dirty="0"/>
              <a:t>TEMA: LEAN CANVAS  </a:t>
            </a:r>
            <a:r>
              <a:rPr lang="es-MX" b="1" dirty="0"/>
              <a:t>SISTEMA DE GESTIÓN DE Veterinaria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868B8-2A78-B052-DA03-5048B3616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Pertenece a: HINOSTROZA MORENO WILLY MICHAEL</a:t>
            </a:r>
          </a:p>
          <a:p>
            <a:r>
              <a:rPr lang="es-MX" dirty="0"/>
              <a:t>Curso: Curso Integrador I: Sistemas Software- Sección 19668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41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76FC-6E92-2740-5AEB-915E0BDF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INFORME DE PROYECTO: SISTEMA DE GESTIÓN VETERINARIA AMBAR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970A70-6A05-29B7-3A5B-B093D81B1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PRIMERA ENTREGA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2483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0636B-52BB-288F-E49C-EB02A12E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73352-E988-CE2E-CAC7-23DB149C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1.1. Empresa</a:t>
            </a:r>
            <a:endParaRPr lang="es-PE" sz="2000" dirty="0"/>
          </a:p>
          <a:p>
            <a:pPr lvl="1"/>
            <a:r>
              <a:rPr lang="es-PE" sz="1800" dirty="0"/>
              <a:t>CLINICA VETERINARIA AMBAR E.I.R.L.</a:t>
            </a:r>
          </a:p>
          <a:p>
            <a:pPr lvl="1"/>
            <a:r>
              <a:rPr lang="es-PE" sz="1800" dirty="0"/>
              <a:t>RUC: 20602702805</a:t>
            </a:r>
          </a:p>
          <a:p>
            <a:pPr lvl="1"/>
            <a:r>
              <a:rPr lang="es-PE" sz="1800" dirty="0"/>
              <a:t>Dirección: Sector 3, Grupo 25, </a:t>
            </a:r>
            <a:r>
              <a:rPr lang="es-PE" sz="1800" dirty="0" err="1"/>
              <a:t>Mz</a:t>
            </a:r>
            <a:r>
              <a:rPr lang="es-PE" sz="1800" dirty="0"/>
              <a:t>. O, Lote 1 – Villa el Salvador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1.2. Visión</a:t>
            </a:r>
            <a:endParaRPr lang="es-PE" sz="2000" dirty="0"/>
          </a:p>
          <a:p>
            <a:pPr lvl="1"/>
            <a:r>
              <a:rPr lang="es-PE" sz="1800" dirty="0"/>
              <a:t>Ser la clínica veterinaria líder en la zona, reconocida por la excelencia en salud animal y servicios estéticos, apoyada en tecnologías de vanguardia para el bienestar de las mascotas.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05523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08F6-1D4F-3217-A370-0AE3E59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B89DE-3B1E-03CF-9081-7122EAE9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51A2B-278A-4114-9EAF-636E1396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1.3. Misión</a:t>
            </a:r>
            <a:endParaRPr lang="es-PE" sz="2000" dirty="0"/>
          </a:p>
          <a:p>
            <a:pPr lvl="1"/>
            <a:r>
              <a:rPr lang="es-PE" sz="1800" dirty="0"/>
              <a:t>Brindar servicios médicos y estéticos de alta calidad para animales de compañía, garantizando una atención humana, profesional y tecnológicamente eficiente para la tranquilidad de sus propietarios.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1.4. Análisis del Entorno y Estrategia</a:t>
            </a:r>
            <a:endParaRPr lang="es-PE" sz="2000" dirty="0"/>
          </a:p>
          <a:p>
            <a:pPr lvl="1"/>
            <a:r>
              <a:rPr lang="es-PE" sz="1800" b="1" dirty="0"/>
              <a:t>Entorno:</a:t>
            </a:r>
            <a:r>
              <a:rPr lang="es-PE" sz="1800" dirty="0"/>
              <a:t> Sector en crecimiento con alta demanda de servicios especializados (Estética para mascotas y medicina preventiva).</a:t>
            </a:r>
          </a:p>
          <a:p>
            <a:pPr lvl="1"/>
            <a:r>
              <a:rPr lang="es-PE" sz="1800" b="1" dirty="0"/>
              <a:t>Estrategia:</a:t>
            </a:r>
            <a:r>
              <a:rPr lang="es-PE" sz="1800" dirty="0"/>
              <a:t> Diferenciación mediante la personalización de servicios y fidelización a través de recordatorios automatizados.</a:t>
            </a:r>
          </a:p>
          <a:p>
            <a:pPr lvl="1"/>
            <a:r>
              <a:rPr lang="es-PE" sz="1800" b="1" dirty="0"/>
              <a:t>Planes:</a:t>
            </a:r>
            <a:r>
              <a:rPr lang="es-PE" sz="1800" dirty="0"/>
              <a:t> Expansión de la cartera de servicios estéticos y digitalización total de la gestión clínica en el presente año.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39317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615F-4DA3-6866-18FF-E11F3E0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22C95-A78D-EA2D-DF61-3A92CFD0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0D576-6390-96F6-F5F0-3B6D8105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2.1. Descripción del Problema</a:t>
            </a:r>
            <a:endParaRPr lang="es-PE" sz="2800" dirty="0"/>
          </a:p>
          <a:p>
            <a:pPr lvl="1"/>
            <a:r>
              <a:rPr lang="es-PE" sz="2400" dirty="0"/>
              <a:t>La Clínica Veterinaria </a:t>
            </a:r>
            <a:r>
              <a:rPr lang="es-PE" sz="2400" dirty="0" err="1"/>
              <a:t>Ambar</a:t>
            </a:r>
            <a:r>
              <a:rPr lang="es-PE" sz="2400" dirty="0"/>
              <a:t> presenta ineficiencias críticas debido a la gestión manual de procesos:</a:t>
            </a:r>
          </a:p>
          <a:p>
            <a:pPr lvl="2"/>
            <a:r>
              <a:rPr lang="es-PE" sz="2000" b="1" dirty="0"/>
              <a:t>Pérdida de información:</a:t>
            </a:r>
            <a:r>
              <a:rPr lang="es-PE" sz="2000" dirty="0"/>
              <a:t> Historias clínicas en papel difíciles de rastrear.</a:t>
            </a:r>
          </a:p>
          <a:p>
            <a:pPr lvl="2"/>
            <a:r>
              <a:rPr lang="es-PE" sz="2000" b="1" dirty="0"/>
              <a:t>Ausentismo:</a:t>
            </a:r>
            <a:r>
              <a:rPr lang="es-PE" sz="2000" dirty="0"/>
              <a:t> No hay un sistema de recordatorios para citas médicas o estéticas.</a:t>
            </a:r>
          </a:p>
          <a:p>
            <a:pPr lvl="2"/>
            <a:r>
              <a:rPr lang="es-PE" sz="2000" b="1" dirty="0"/>
              <a:t>Descontrol Operativo:</a:t>
            </a:r>
            <a:r>
              <a:rPr lang="es-PE" sz="2000" dirty="0"/>
              <a:t> Conflictos en la agenda y falta de seguimiento en el historial de bienestar animal.</a:t>
            </a:r>
          </a:p>
          <a:p>
            <a:pPr marL="0" indent="0">
              <a:buNone/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7921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1E82-CBC2-C723-A375-7F3E0062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7EBF3-3182-7448-5AFA-7D32BE15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09CBC-AA08-9944-276E-A586BD138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2.2. Alcance de la Solución</a:t>
            </a:r>
            <a:endParaRPr lang="es-PE" sz="2800" dirty="0"/>
          </a:p>
          <a:p>
            <a:pPr lvl="1"/>
            <a:r>
              <a:rPr lang="es-PE" sz="2400" dirty="0"/>
              <a:t>Se desarrollará una aplicación de escritorio/web enfocada en:</a:t>
            </a:r>
          </a:p>
          <a:p>
            <a:pPr lvl="2"/>
            <a:r>
              <a:rPr lang="es-PE" sz="2000" b="1" dirty="0"/>
              <a:t>Gestión de Pacientes/Propietarios:</a:t>
            </a:r>
            <a:r>
              <a:rPr lang="es-PE" sz="2000" dirty="0"/>
              <a:t> Registro completo y búsqueda indexada sistematizada.</a:t>
            </a:r>
          </a:p>
          <a:p>
            <a:pPr lvl="2"/>
            <a:r>
              <a:rPr lang="es-PE" sz="2000" b="1" dirty="0"/>
              <a:t>Agenda Inteligente:</a:t>
            </a:r>
            <a:r>
              <a:rPr lang="es-PE" sz="2000" dirty="0"/>
              <a:t> Control de citas para salud y estética.</a:t>
            </a:r>
          </a:p>
          <a:p>
            <a:pPr lvl="2"/>
            <a:r>
              <a:rPr lang="es-PE" sz="2000" b="1" dirty="0"/>
              <a:t>Servicios de Bienestar:</a:t>
            </a:r>
            <a:r>
              <a:rPr lang="es-PE" sz="2000" dirty="0"/>
              <a:t> Módulo específico para Spa y estética con preferencias del cliente.</a:t>
            </a:r>
          </a:p>
          <a:p>
            <a:pPr marL="0" indent="0">
              <a:buNone/>
            </a:pP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337521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20365-0389-3F6C-B8BD-C9A7446A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3. Modelo de Negocio (</a:t>
            </a:r>
            <a:r>
              <a:rPr lang="es-PE" b="1" dirty="0" err="1"/>
              <a:t>Canvas</a:t>
            </a:r>
            <a:r>
              <a:rPr lang="es-PE" b="1" dirty="0"/>
              <a:t>)</a:t>
            </a:r>
            <a:br>
              <a:rPr lang="es-PE" dirty="0"/>
            </a:b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7BBA75-7D42-E049-10FB-4154516F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40" y="1517110"/>
            <a:ext cx="9637417" cy="481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4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94A0A-AE04-C8A8-703C-CEE5E519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4. Alternativas de Solución TIC</a:t>
            </a: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EB7F7-E7A0-D3B2-2214-64ADB73D8D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ES" dirty="0" err="1"/>
              <a:t>Login</a:t>
            </a:r>
            <a:endParaRPr lang="es-PE" dirty="0"/>
          </a:p>
          <a:p>
            <a:pPr lvl="0"/>
            <a:r>
              <a:rPr lang="es-ES" dirty="0" err="1"/>
              <a:t>KPI’s</a:t>
            </a:r>
            <a:endParaRPr lang="es-PE" dirty="0"/>
          </a:p>
          <a:p>
            <a:pPr lvl="0"/>
            <a:r>
              <a:rPr lang="es-ES" dirty="0"/>
              <a:t>Registro de Mascotas</a:t>
            </a:r>
            <a:endParaRPr lang="es-PE" dirty="0"/>
          </a:p>
          <a:p>
            <a:pPr lvl="0"/>
            <a:r>
              <a:rPr lang="es-ES" dirty="0"/>
              <a:t>Agenda</a:t>
            </a:r>
            <a:endParaRPr lang="es-PE" dirty="0"/>
          </a:p>
          <a:p>
            <a:pPr lvl="0"/>
            <a:r>
              <a:rPr lang="es-ES" dirty="0"/>
              <a:t>Detalle de servicio</a:t>
            </a:r>
            <a:endParaRPr lang="es-PE" dirty="0"/>
          </a:p>
          <a:p>
            <a:endParaRPr lang="es-PE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DA2A9E-98A7-4C94-C286-1E4671605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6" y="2126222"/>
            <a:ext cx="5001253" cy="4512322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4.1. Alternativa 1: Aplicación de escritorio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4.2. Alternativa 2: Aplicación Web</a:t>
            </a:r>
            <a:endParaRPr lang="es-PE" dirty="0"/>
          </a:p>
          <a:p>
            <a:pPr lvl="1"/>
            <a:r>
              <a:rPr lang="es-ES" dirty="0"/>
              <a:t>Acceso multiplataforma para acceder desde cualquier parte, permite escalabilidad para futuros locales.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4.3. Alternativa 3: Aplicación Hibrido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 y una parte en la nube, permite conexión futura con aplicaciones móviles para clientes y empleados.</a:t>
            </a:r>
            <a:endParaRPr lang="es-PE" dirty="0"/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DC859D-19D5-DF52-C53D-E89D9DBB1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308" y="4382382"/>
            <a:ext cx="2394204" cy="18129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0" name="Imagen 9" descr="República checa de praga 21 de enero de 2024 : logo de java en la pantalla del smartphone en hombres con el fondo del lugar de trabajo.">
            <a:extLst>
              <a:ext uri="{FF2B5EF4-FFF2-40B4-BE49-F238E27FC236}">
                <a16:creationId xmlns:a16="http://schemas.microsoft.com/office/drawing/2014/main" id="{E26DB16E-FA25-FEC2-A60F-62E71DA45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27" y="4366507"/>
            <a:ext cx="274574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150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2A12F-1974-EBDB-33B1-B5139975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0CCDD7-8686-DDF4-D008-004105B0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5.1. Project </a:t>
            </a:r>
            <a:r>
              <a:rPr lang="es-PE" b="1" dirty="0" err="1"/>
              <a:t>Charter</a:t>
            </a:r>
            <a:r>
              <a:rPr lang="es-PE" b="1" dirty="0"/>
              <a:t> (Básico)</a:t>
            </a:r>
            <a:endParaRPr lang="es-PE" dirty="0"/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2690C1-BF80-00C9-82E4-BACD2D69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62" y="1250845"/>
            <a:ext cx="7236778" cy="5435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923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252C-0FC6-9E14-A16A-CC4B83D7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B24E3-AFFF-1E02-C0B7-7C6CB880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D7E928-A316-C369-51D8-AD38B956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5.2. Diagrama de Gantt (Cronograma de Actividades)</a:t>
            </a:r>
            <a:endParaRPr lang="es-PE" dirty="0"/>
          </a:p>
          <a:p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2D18D0-0AD2-7EF3-9FF6-ADAD6644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39" y="1210818"/>
            <a:ext cx="9132522" cy="54643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078041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</TotalTime>
  <Words>495</Words>
  <Application>Microsoft Office PowerPoint</Application>
  <PresentationFormat>Panorámica</PresentationFormat>
  <Paragraphs>52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Espiral</vt:lpstr>
      <vt:lpstr>TEMA: LEAN CANVAS  SISTEMA DE GESTIÓN DE Veterinaria</vt:lpstr>
      <vt:lpstr>INFORME DE PROYECTO: SISTEMA DE GESTIÓN VETERINARIA AMBAR</vt:lpstr>
      <vt:lpstr>1. Análisis del Contexto Organizacional  </vt:lpstr>
      <vt:lpstr>1. Análisis del Contexto Organizacional  </vt:lpstr>
      <vt:lpstr>2. Identificación del Problema y Alcance</vt:lpstr>
      <vt:lpstr>2. Identificación del Problema y Alcance</vt:lpstr>
      <vt:lpstr>3. Modelo de Negocio (Canvas) </vt:lpstr>
      <vt:lpstr>4. Alternativas de Solución TIC</vt:lpstr>
      <vt:lpstr>5. Gestión y Estructura de la Solución </vt:lpstr>
      <vt:lpstr>5. Gestión y Estructura de la Solución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OSVER</dc:creator>
  <cp:lastModifiedBy>OSVER</cp:lastModifiedBy>
  <cp:revision>3</cp:revision>
  <dcterms:created xsi:type="dcterms:W3CDTF">2026-04-16T01:08:02Z</dcterms:created>
  <dcterms:modified xsi:type="dcterms:W3CDTF">2026-04-16T02:21:59Z</dcterms:modified>
</cp:coreProperties>
</file>