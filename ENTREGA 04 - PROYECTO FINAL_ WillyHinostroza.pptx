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228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13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029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593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77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41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185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366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33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35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804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5197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070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496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902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214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9579-B9E0-44DE-BE47-8FD9BD74C907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631FF88-C9C4-43DE-88EB-18F64733AEF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968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C59FA-3654-29F0-3906-7AA8DF0E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7751576" cy="2971801"/>
          </a:xfrm>
        </p:spPr>
        <p:txBody>
          <a:bodyPr>
            <a:normAutofit/>
          </a:bodyPr>
          <a:lstStyle/>
          <a:p>
            <a:r>
              <a:rPr lang="es-MX" b="1" dirty="0"/>
              <a:t>SISTEMA DE GESTIÓN DE Veterinaria</a:t>
            </a:r>
            <a:endParaRPr lang="es-PE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9868B8-2A78-B052-DA03-5048B3616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Pertenece a: HINOSTROZA MORENO WILLY MICHAEL</a:t>
            </a:r>
          </a:p>
          <a:p>
            <a:r>
              <a:rPr lang="es-MX" dirty="0"/>
              <a:t>Curso: Curso Integrador I: Sistemas Software- Sección 19668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41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76FC-6E92-2740-5AEB-915E0BDF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INFORME DE PROYECTO: SISTEMA DE GESTIÓN VETERINARIA AMBAR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970A70-6A05-29B7-3A5B-B093D81B1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SEGUNDA ENTREGA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2483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0636B-52BB-288F-E49C-EB02A12E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73352-E988-CE2E-CAC7-23DB149C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1.1. Empresa</a:t>
            </a:r>
            <a:endParaRPr lang="es-PE" sz="2000" dirty="0"/>
          </a:p>
          <a:p>
            <a:pPr lvl="1"/>
            <a:r>
              <a:rPr lang="es-PE" sz="1800" dirty="0"/>
              <a:t>CLINICA VETERINARIA AMBAR E.I.R.L.</a:t>
            </a:r>
          </a:p>
          <a:p>
            <a:pPr lvl="1"/>
            <a:r>
              <a:rPr lang="es-PE" sz="1800" dirty="0"/>
              <a:t>RUC: 20602702805</a:t>
            </a:r>
          </a:p>
          <a:p>
            <a:pPr lvl="1"/>
            <a:r>
              <a:rPr lang="es-PE" sz="1800" dirty="0"/>
              <a:t>Dirección: Sector 3, Grupo 25, </a:t>
            </a:r>
            <a:r>
              <a:rPr lang="es-PE" sz="1800" dirty="0" err="1"/>
              <a:t>Mz</a:t>
            </a:r>
            <a:r>
              <a:rPr lang="es-PE" sz="1800" dirty="0"/>
              <a:t>. O, Lote 1 – Villa el Salvador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1.2. Visión</a:t>
            </a:r>
            <a:endParaRPr lang="es-PE" sz="2000" dirty="0"/>
          </a:p>
          <a:p>
            <a:pPr lvl="1"/>
            <a:r>
              <a:rPr lang="es-PE" sz="1800" dirty="0"/>
              <a:t>Ser la clínica veterinaria líder en la zona, reconocida por la excelencia en salud animal y servicios estéticos, apoyada en tecnologías de vanguardia para el bienestar de las mascotas.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05523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08F6-1D4F-3217-A370-0AE3E59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B89DE-3B1E-03CF-9081-7122EAE9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1. Análisis del Contexto Organizacional</a:t>
            </a:r>
            <a:br>
              <a:rPr lang="es-PE" dirty="0"/>
            </a:br>
            <a:br>
              <a:rPr lang="es-PE" dirty="0"/>
            </a:b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251A2B-278A-4114-9EAF-636E1396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000" dirty="0"/>
              <a:t> </a:t>
            </a:r>
            <a:r>
              <a:rPr lang="es-PE" sz="2000" b="1" dirty="0"/>
              <a:t>1.3. Misión</a:t>
            </a:r>
            <a:endParaRPr lang="es-PE" sz="2000" dirty="0"/>
          </a:p>
          <a:p>
            <a:pPr lvl="1"/>
            <a:r>
              <a:rPr lang="es-PE" sz="1800" dirty="0"/>
              <a:t>Brindar servicios médicos y estéticos de alta calidad para animales de compañía, garantizando una atención humana, profesional y tecnológicamente eficiente para la tranquilidad de sus propietarios.</a:t>
            </a:r>
          </a:p>
          <a:p>
            <a:pPr marL="0" indent="0">
              <a:buNone/>
            </a:pPr>
            <a:r>
              <a:rPr lang="es-PE" sz="2000" dirty="0"/>
              <a:t> </a:t>
            </a:r>
          </a:p>
          <a:p>
            <a:r>
              <a:rPr lang="es-PE" sz="2000" b="1" dirty="0"/>
              <a:t>1.4. Análisis del Entorno y Estrategia</a:t>
            </a:r>
            <a:endParaRPr lang="es-PE" sz="2000" dirty="0"/>
          </a:p>
          <a:p>
            <a:pPr lvl="1"/>
            <a:r>
              <a:rPr lang="es-PE" sz="1800" b="1" dirty="0"/>
              <a:t>Entorno:</a:t>
            </a:r>
            <a:r>
              <a:rPr lang="es-PE" sz="1800" dirty="0"/>
              <a:t> Sector en crecimiento con alta demanda de servicios especializados (Estética para mascotas y medicina preventiva).</a:t>
            </a:r>
          </a:p>
          <a:p>
            <a:pPr lvl="1"/>
            <a:r>
              <a:rPr lang="es-PE" sz="1800" b="1" dirty="0"/>
              <a:t>Estrategia:</a:t>
            </a:r>
            <a:r>
              <a:rPr lang="es-PE" sz="1800" dirty="0"/>
              <a:t> Diferenciación mediante la personalización de servicios y fidelización a través de recordatorios automatizados.</a:t>
            </a:r>
          </a:p>
          <a:p>
            <a:pPr lvl="1"/>
            <a:r>
              <a:rPr lang="es-PE" sz="1800" b="1" dirty="0"/>
              <a:t>Planes:</a:t>
            </a:r>
            <a:r>
              <a:rPr lang="es-PE" sz="1800" dirty="0"/>
              <a:t> Expansión de la cartera de servicios estéticos y digitalización total de la gestión clínica en el presente año.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39317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615F-4DA3-6866-18FF-E11F3E0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22C95-A78D-EA2D-DF61-3A92CFD0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0D576-6390-96F6-F5F0-3B6D81059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2.1. Descripción del Problema</a:t>
            </a:r>
            <a:endParaRPr lang="es-PE" sz="2800" dirty="0"/>
          </a:p>
          <a:p>
            <a:pPr lvl="1"/>
            <a:r>
              <a:rPr lang="es-PE" sz="2400" dirty="0"/>
              <a:t>La Clínica Veterinaria </a:t>
            </a:r>
            <a:r>
              <a:rPr lang="es-PE" sz="2400" dirty="0" err="1"/>
              <a:t>Ambar</a:t>
            </a:r>
            <a:r>
              <a:rPr lang="es-PE" sz="2400" dirty="0"/>
              <a:t> presenta ineficiencias críticas debido a la gestión manual de procesos:</a:t>
            </a:r>
          </a:p>
          <a:p>
            <a:pPr lvl="2"/>
            <a:r>
              <a:rPr lang="es-PE" sz="2000" b="1" dirty="0"/>
              <a:t>Pérdida de información:</a:t>
            </a:r>
            <a:r>
              <a:rPr lang="es-PE" sz="2000" dirty="0"/>
              <a:t> Historias clínicas en papel difíciles de rastrear.</a:t>
            </a:r>
          </a:p>
          <a:p>
            <a:pPr lvl="2"/>
            <a:r>
              <a:rPr lang="es-PE" sz="2000" b="1" dirty="0"/>
              <a:t>Ausentismo:</a:t>
            </a:r>
            <a:r>
              <a:rPr lang="es-PE" sz="2000" dirty="0"/>
              <a:t> No hay un sistema de recordatorios para citas médicas o estéticas.</a:t>
            </a:r>
          </a:p>
          <a:p>
            <a:pPr lvl="2"/>
            <a:r>
              <a:rPr lang="es-PE" sz="2000" b="1" dirty="0"/>
              <a:t>Descontrol Operativo:</a:t>
            </a:r>
            <a:r>
              <a:rPr lang="es-PE" sz="2000" dirty="0"/>
              <a:t> Conflictos en la agenda y falta de seguimiento en el historial de bienestar animal.</a:t>
            </a:r>
          </a:p>
          <a:p>
            <a:pPr marL="0" indent="0">
              <a:buNone/>
            </a:pP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27921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1E82-CBC2-C723-A375-7F3E00620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7EBF3-3182-7448-5AFA-7D32BE15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422291" cy="1280890"/>
          </a:xfrm>
        </p:spPr>
        <p:txBody>
          <a:bodyPr>
            <a:normAutofit/>
          </a:bodyPr>
          <a:lstStyle/>
          <a:p>
            <a:r>
              <a:rPr lang="es-ES" b="1" dirty="0"/>
              <a:t>2. Identificación del Problema y Alcance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E09CBC-AA08-9944-276E-A586BD138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0472"/>
            <a:ext cx="9602788" cy="5367528"/>
          </a:xfrm>
        </p:spPr>
        <p:txBody>
          <a:bodyPr>
            <a:normAutofit/>
          </a:bodyPr>
          <a:lstStyle/>
          <a:p>
            <a:r>
              <a:rPr lang="es-PE" sz="2800" b="1" dirty="0"/>
              <a:t>2.2. Alcance de la Solución</a:t>
            </a:r>
            <a:endParaRPr lang="es-PE" sz="2800" dirty="0"/>
          </a:p>
          <a:p>
            <a:pPr lvl="1"/>
            <a:r>
              <a:rPr lang="es-PE" sz="2400" dirty="0"/>
              <a:t>Se desarrollará una aplicación de escritorio/web enfocada en:</a:t>
            </a:r>
          </a:p>
          <a:p>
            <a:pPr lvl="2"/>
            <a:r>
              <a:rPr lang="es-PE" sz="2000" b="1" dirty="0"/>
              <a:t>Gestión de Pacientes/Propietarios:</a:t>
            </a:r>
            <a:r>
              <a:rPr lang="es-PE" sz="2000" dirty="0"/>
              <a:t> Registro completo y búsqueda indexada sistematizada.</a:t>
            </a:r>
          </a:p>
          <a:p>
            <a:pPr lvl="2"/>
            <a:r>
              <a:rPr lang="es-PE" sz="2000" b="1" dirty="0"/>
              <a:t>Agenda Inteligente:</a:t>
            </a:r>
            <a:r>
              <a:rPr lang="es-PE" sz="2000" dirty="0"/>
              <a:t> Control de citas para salud y estética.</a:t>
            </a:r>
          </a:p>
          <a:p>
            <a:pPr lvl="2"/>
            <a:r>
              <a:rPr lang="es-PE" sz="2000" b="1" dirty="0"/>
              <a:t>Servicios de Bienestar:</a:t>
            </a:r>
            <a:r>
              <a:rPr lang="es-PE" sz="2000" dirty="0"/>
              <a:t> Módulo específico para Spa y estética con preferencias del cliente.</a:t>
            </a:r>
          </a:p>
          <a:p>
            <a:pPr marL="0" indent="0">
              <a:buNone/>
            </a:pP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337521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20365-0389-3F6C-B8BD-C9A7446A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3. Modelo de Negocio (</a:t>
            </a:r>
            <a:r>
              <a:rPr lang="es-PE" b="1" dirty="0" err="1"/>
              <a:t>Canvas</a:t>
            </a:r>
            <a:r>
              <a:rPr lang="es-PE" b="1" dirty="0"/>
              <a:t>)</a:t>
            </a:r>
            <a:br>
              <a:rPr lang="es-PE" dirty="0"/>
            </a:b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7BBA75-7D42-E049-10FB-4154516F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940" y="1517110"/>
            <a:ext cx="9637417" cy="481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4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94A0A-AE04-C8A8-703C-CEE5E519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4. Alternativas de Solución TIC</a:t>
            </a:r>
            <a:endParaRPr lang="es-PE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EB7F7-E7A0-D3B2-2214-64ADB73D8D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ES" dirty="0" err="1"/>
              <a:t>Login</a:t>
            </a:r>
            <a:endParaRPr lang="es-PE" dirty="0"/>
          </a:p>
          <a:p>
            <a:pPr lvl="0"/>
            <a:r>
              <a:rPr lang="es-ES" dirty="0" err="1"/>
              <a:t>KPI’s</a:t>
            </a:r>
            <a:endParaRPr lang="es-PE" dirty="0"/>
          </a:p>
          <a:p>
            <a:pPr lvl="0"/>
            <a:r>
              <a:rPr lang="es-ES" dirty="0"/>
              <a:t>Registro de Mascotas</a:t>
            </a:r>
            <a:endParaRPr lang="es-PE" dirty="0"/>
          </a:p>
          <a:p>
            <a:pPr lvl="0"/>
            <a:r>
              <a:rPr lang="es-ES" dirty="0"/>
              <a:t>Agenda</a:t>
            </a:r>
            <a:endParaRPr lang="es-PE" dirty="0"/>
          </a:p>
          <a:p>
            <a:pPr lvl="0"/>
            <a:r>
              <a:rPr lang="es-ES" dirty="0"/>
              <a:t>Detalle de servicio</a:t>
            </a:r>
            <a:endParaRPr lang="es-PE" dirty="0"/>
          </a:p>
          <a:p>
            <a:endParaRPr lang="es-PE" dirty="0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3DA2A9E-98A7-4C94-C286-1E4671605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6" y="2126222"/>
            <a:ext cx="5001253" cy="4512322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4.1. Alternativa 1: Aplicación de escritorio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4.2. Alternativa 2: Aplicación Web</a:t>
            </a:r>
            <a:endParaRPr lang="es-PE" dirty="0"/>
          </a:p>
          <a:p>
            <a:pPr lvl="1"/>
            <a:r>
              <a:rPr lang="es-ES" dirty="0"/>
              <a:t>Acceso multiplataforma para acceder desde cualquier parte, permite escalabilidad para futuros locales.</a:t>
            </a:r>
            <a:endParaRPr lang="es-PE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PE" dirty="0"/>
          </a:p>
          <a:p>
            <a:r>
              <a:rPr lang="es-ES" b="1" dirty="0"/>
              <a:t>4.3. Alternativa 3: Aplicación Hibrido</a:t>
            </a:r>
            <a:endParaRPr lang="es-PE" dirty="0"/>
          </a:p>
          <a:p>
            <a:pPr lvl="1"/>
            <a:r>
              <a:rPr lang="es-ES" dirty="0"/>
              <a:t>Arquitectura Cliente Servidor y/o local con base de datos MYSQL y una parte en la nube, permite conexión futura con aplicaciones móviles para clientes y empleados.</a:t>
            </a:r>
            <a:endParaRPr lang="es-PE" dirty="0"/>
          </a:p>
          <a:p>
            <a:endParaRPr lang="es-P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ADC859D-19D5-DF52-C53D-E89D9DBB1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308" y="4382382"/>
            <a:ext cx="2394204" cy="18129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10" name="Imagen 9" descr="República checa de praga 21 de enero de 2024 : logo de java en la pantalla del smartphone en hombres con el fondo del lugar de trabajo.">
            <a:extLst>
              <a:ext uri="{FF2B5EF4-FFF2-40B4-BE49-F238E27FC236}">
                <a16:creationId xmlns:a16="http://schemas.microsoft.com/office/drawing/2014/main" id="{E26DB16E-FA25-FEC2-A60F-62E71DA45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27" y="4366507"/>
            <a:ext cx="274574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150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2A12F-1974-EBDB-33B1-B5139975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0CCDD7-8686-DDF4-D008-004105B0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5.1. Project </a:t>
            </a:r>
            <a:r>
              <a:rPr lang="es-PE" b="1" dirty="0" err="1"/>
              <a:t>Charter</a:t>
            </a:r>
            <a:r>
              <a:rPr lang="es-PE" b="1" dirty="0"/>
              <a:t> (Básico)</a:t>
            </a:r>
            <a:endParaRPr lang="es-PE" dirty="0"/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2690C1-BF80-00C9-82E4-BACD2D69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62" y="1250845"/>
            <a:ext cx="7236778" cy="5435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923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252C-0FC6-9E14-A16A-CC4B83D7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B24E3-AFFF-1E02-C0B7-7C6CB880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4D7E928-A316-C369-51D8-AD38B956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5.2. Diagrama de Gantt (Cronograma de Actividades)</a:t>
            </a:r>
            <a:endParaRPr lang="es-PE" dirty="0"/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78110D-D014-E85B-1555-E1B77D75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32" y="1168924"/>
            <a:ext cx="10358264" cy="56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8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ABA9-EE08-ECA9-B1A3-51FEF826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242DE-6274-1C61-8074-A70804FB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5A2F075-CD85-AFE1-CB1C-25EEAC999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PE" b="1" dirty="0"/>
              <a:t>Proceso de Registro de Clientes y Mascotas</a:t>
            </a: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7D63F8-749D-7098-C2C1-4B39C7D5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76" y="1737883"/>
            <a:ext cx="9442436" cy="506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9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9228-A556-5C1D-70E9-70072C25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49350-02BB-56F5-AA4E-70383CA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88034E4-80EA-4159-40A3-FF01F761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Gestión Integral de Atención al Paciente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B43C99-D9BE-B3F6-8F4E-89A26670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20" y="1688521"/>
            <a:ext cx="10009853" cy="435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13D0-08BC-AE08-7798-7F627C0A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D0DC1-F59D-BFB1-8B95-79FCA05B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87185EF-6C53-4E13-E692-9454ED14D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Proceso de Reserva y Programación de Citas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5B7CF9-EE42-1DD7-52BD-9D50882F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76" y="1759734"/>
            <a:ext cx="10010714" cy="456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4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43AA-1A63-F093-4FB4-F960ADD0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3B8B8-B567-0CCF-90BB-7B1656A9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B39E3F2-F9BF-528C-CA6C-8A6DE936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5.3. Diagrama de Procesos BPMN</a:t>
            </a:r>
          </a:p>
          <a:p>
            <a:pPr marL="0" indent="0">
              <a:buNone/>
            </a:pPr>
            <a:r>
              <a:rPr lang="es-ES" b="1" dirty="0"/>
              <a:t>Proceso de Servicio de Estética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E8E39C-8DED-60CD-1999-DA2464C5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16" y="1703406"/>
            <a:ext cx="9897456" cy="45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9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7EC4-7888-76FE-FFF2-C0EB5097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A6606-E48A-7150-D462-BAC4F302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A2DBD19-865D-93EE-7B6B-2C41C28D8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5.4. Diagrama de Clases: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4684BF-E89E-06EA-F378-625891E1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279151"/>
            <a:ext cx="9409098" cy="5211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3785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0AADB-3382-ED21-B725-994A8B02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93F93-13F5-7AD8-3BB1-11237B84D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D84A4FE-CD6A-0F49-355D-FBC70651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916" y="810768"/>
            <a:ext cx="8915400" cy="536448"/>
          </a:xfrm>
        </p:spPr>
        <p:txBody>
          <a:bodyPr/>
          <a:lstStyle/>
          <a:p>
            <a:r>
              <a:rPr lang="es-PE" b="1" dirty="0"/>
              <a:t>5.5. Diagrama entidad – relación: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DF269A-3257-DF9D-A85D-D421D98E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1347215"/>
            <a:ext cx="8451593" cy="53965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8954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D2E7-1048-DCC1-31BB-60C2F549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15BFB-6A93-0E1D-4A40-E1B219D8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A0FE02E-CB19-6668-9949-DF0F2D2CE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Registro de Propietario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9AB77C-A6EB-32CC-E5BF-5DFFADC5D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53154"/>
            <a:ext cx="5221856" cy="38304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8290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8AE7-B718-0582-1439-C4B8F418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F75BD-E181-F5CC-DD2B-CF1B23DD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0E5090-9E1A-1179-58B9-8CB737B2E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Ficha del Paciente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857D8C-31E1-83A1-BD28-60C15D4FD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136" y="2187724"/>
            <a:ext cx="7835539" cy="3585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6991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0661-6171-00C1-9C7C-4B9A6A79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DDC65-B56E-BEC3-E511-FAFCF966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BA831E5-3060-BC9E-69E3-A45100B9F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Calendario de Citas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4BFEF7-D269-2A13-CE92-F4B4B500A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60" y="1606399"/>
            <a:ext cx="7240163" cy="4826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512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3B32-5F3B-90B8-EC6E-326AA17C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3721E-8B10-D01E-F957-D9289524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2C7011F-75DD-B90E-5EB5-97F1B638C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PE" b="1" dirty="0"/>
              <a:t>Detalle de Cita Médica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4A396B-0908-8C02-3B32-09AFE5F41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694" y="1813298"/>
            <a:ext cx="5873373" cy="43633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4799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F79B-EFD4-136D-81A2-3B9D3C25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04AE-C9AD-B97D-7B5A-B04A1FBD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A923BF2-0160-CC49-04F1-02C22CF7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ES" b="1" dirty="0"/>
              <a:t>Catálogo de Servicios Estéticos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A94F25-FB92-B516-9529-5A30FB79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30" y="1877817"/>
            <a:ext cx="6926560" cy="45316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8327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1A47-ABAB-49BC-1C00-994E9225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4EFFD-523D-8C0C-01C6-1E649E22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6326"/>
            <a:ext cx="8911687" cy="1280890"/>
          </a:xfrm>
        </p:spPr>
        <p:txBody>
          <a:bodyPr/>
          <a:lstStyle/>
          <a:p>
            <a:r>
              <a:rPr lang="es-ES" b="1" dirty="0"/>
              <a:t>5. Gestión y Estructura de la Solución</a:t>
            </a:r>
            <a:br>
              <a:rPr lang="es-PE" dirty="0"/>
            </a:br>
            <a:endParaRPr lang="es-PE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83C9C0-3E71-3831-571B-2CA70EAB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176" y="810767"/>
            <a:ext cx="9360140" cy="1152503"/>
          </a:xfrm>
        </p:spPr>
        <p:txBody>
          <a:bodyPr>
            <a:normAutofit/>
          </a:bodyPr>
          <a:lstStyle/>
          <a:p>
            <a:r>
              <a:rPr lang="es-PE" b="1" dirty="0"/>
              <a:t>5.6. Prototipos</a:t>
            </a:r>
          </a:p>
          <a:p>
            <a:pPr marL="0" indent="0">
              <a:buNone/>
            </a:pPr>
            <a:r>
              <a:rPr lang="es-PE" b="1" dirty="0"/>
              <a:t>Registro de Atención Estética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DB34A2-37AE-1275-ADF8-88F559A7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16" y="1756764"/>
            <a:ext cx="6582896" cy="4373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2670572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</TotalTime>
  <Words>700</Words>
  <Application>Microsoft Office PowerPoint</Application>
  <PresentationFormat>Panorámica</PresentationFormat>
  <Paragraphs>86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Espiral</vt:lpstr>
      <vt:lpstr>SISTEMA DE GESTIÓN DE Veterinaria</vt:lpstr>
      <vt:lpstr>INFORME DE PROYECTO: SISTEMA DE GESTIÓN VETERINARIA AMBAR</vt:lpstr>
      <vt:lpstr>1. Análisis del Contexto Organizacional  </vt:lpstr>
      <vt:lpstr>1. Análisis del Contexto Organizacional  </vt:lpstr>
      <vt:lpstr>2. Identificación del Problema y Alcance</vt:lpstr>
      <vt:lpstr>2. Identificación del Problema y Alcance</vt:lpstr>
      <vt:lpstr>3. Modelo de Negocio (Canvas) </vt:lpstr>
      <vt:lpstr>4. Alternativas de Solución TIC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  <vt:lpstr>5. Gestión y Estructura de la Solución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OSVER</dc:creator>
  <cp:lastModifiedBy>ALUMNO - WILLY MICHAEL HINOSTROZA MORENO</cp:lastModifiedBy>
  <cp:revision>6</cp:revision>
  <dcterms:created xsi:type="dcterms:W3CDTF">2026-04-16T01:08:02Z</dcterms:created>
  <dcterms:modified xsi:type="dcterms:W3CDTF">2026-06-11T02:29:02Z</dcterms:modified>
</cp:coreProperties>
</file>